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D1B2A"/>
                </a:solidFill>
                <a:latin typeface="Arial"/>
              </a:rPr>
              <a:t>Revenue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D1B2A"/>
                </a:solidFill>
                <a:latin typeface="Arial"/>
              </a:rPr>
              <a:t>Revenue by Age Group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D1B2A"/>
                </a:solidFill>
                <a:latin typeface="Arial"/>
              </a:rPr>
              <a:t>Subscription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Non-Subscribers</c:v>
                </c:pt>
                <c:pt idx="1">
                  <c:v>Subscribers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D1B2A"/>
                </a:solidFill>
                <a:latin typeface="Arial"/>
              </a:rPr>
              <a:t>Avg Purchase by Shipping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(USD)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58.46</c:v>
                </c:pt>
                <c:pt idx="1">
                  <c:v>60.48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5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3,900 Transactions  |  Python · PostgreSQL · Power BI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920240" cy="896112"/>
          </a:xfrm>
          <a:prstGeom prst="rect">
            <a:avLst/>
          </a:prstGeom>
          <a:solidFill>
            <a:srgbClr val="1B2E45"/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3840480"/>
            <a:ext cx="1920240" cy="896112"/>
          </a:xfrm>
          <a:prstGeom prst="rect">
            <a:avLst/>
          </a:prstGeom>
          <a:solidFill>
            <a:srgbClr val="1B2E45"/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Analyzed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840480"/>
            <a:ext cx="1920240" cy="896112"/>
          </a:xfrm>
          <a:prstGeom prst="rect">
            <a:avLst/>
          </a:prstGeom>
          <a:solidFill>
            <a:srgbClr val="1B2E45"/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0"/>
            <a:ext cx="1920240" cy="896112"/>
          </a:xfrm>
          <a:prstGeom prst="rect">
            <a:avLst/>
          </a:prstGeom>
          <a:solidFill>
            <a:srgbClr val="1B2E45"/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insights into spending patterns, customer segments, product preferences, and subscription behavior to guide strategic decisions.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813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96596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purchase records, 18 features including demographics, purchase details, and shopping behavior across 4 product categories.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32588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813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for data cleaning and EDA, PostgreSQL for SQL-based business analysis, and Power BI for interactive dashboards.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PREPARATION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Gender · Location · Subscription Status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44144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41448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32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98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Category · Amount · Season · Size · Color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557016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557016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484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014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· Promo Code · Previous Purchases · Frequency · Rating · Shipping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3258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Steps in Python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4160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with pandas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 (median by category)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 to snake_case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binning &amp; frequency feature engineering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redundant promo_code_used column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to PostgreSQL for SQL analysis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45262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45262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Method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45262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DEMOGRAPHIC INSIGHTS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188720"/>
          <a:ext cx="4069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contribute 2× more revenue · Young Adults are the highest-spending age group at $62,143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1887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0" y="118872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54880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 purchases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0" y="1234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226771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267712"/>
            <a:ext cx="10972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3408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5488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purchases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0" y="23134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58000" y="2770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334670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3346704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4198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54880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purchase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58000" y="33924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58000" y="38496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0" y="4434840"/>
            <a:ext cx="42062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4434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2,518 repeat buyers are non-subscribers — high conversion opportunity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DISCOUNT 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00200"/>
            <a:ext cx="1228344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Gloves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6712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67128"/>
            <a:ext cx="1075944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671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Sandals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1671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34056"/>
            <a:ext cx="923544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340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Boots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73405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30098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00984"/>
            <a:ext cx="771144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009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30098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67912"/>
            <a:ext cx="618744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679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Skirt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86791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3.78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1887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Discount-Dependent Products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600200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600200"/>
            <a:ext cx="1600200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6002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16002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2167128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167128"/>
            <a:ext cx="1589319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1671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Sneakers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0" y="21671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49.66%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2734056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734056"/>
            <a:ext cx="1570436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7340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Coat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63840" y="273405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49.07%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3300984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300984"/>
            <a:ext cx="1541633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3009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Sweater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63840" y="330098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48.17%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754880" y="3867912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867912"/>
            <a:ext cx="1516029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8679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Pants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863840" y="386791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47.37%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 used discounts yet still spent above average — price-sensitivity is not uniform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SUBSCRIPTION ANALYSIS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3931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1234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vs. Non-Subscriber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16916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0" y="1691640"/>
            <a:ext cx="4206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1856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09160" y="2258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1,053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80760" y="2258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$59.49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452360" y="2258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$62,645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0" y="30632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3063240"/>
            <a:ext cx="4206240" cy="109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2278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09160" y="36301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2,847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080760" y="36301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$59.87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52360" y="36301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$170,436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0" y="4526280"/>
            <a:ext cx="420624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4526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Express shipping users spend ~3.5% more — premium shipping signals higher purchase intent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298448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78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0789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benefits for subscribers — 2,518 repeat buyers represent a massive untapped conversion pool.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298448"/>
          </a:xfrm>
          <a:prstGeom prst="rect">
            <a:avLst/>
          </a:prstGeom>
          <a:solidFill>
            <a:srgbClr val="1B2E45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91440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078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10789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5192" y="1508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to accelerate movement into the 'Loyal' segment (80% of customers already qualify).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206240" cy="1298448"/>
          </a:xfrm>
          <a:prstGeom prst="rect">
            <a:avLst/>
          </a:prstGeom>
          <a:solidFill>
            <a:srgbClr val="1B2E45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68880"/>
            <a:ext cx="91440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5420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2971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Hat purchases use discounts. Balance sales boosts with margin control for the 5 most discount-dependent products.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68880"/>
            <a:ext cx="4206240" cy="1298448"/>
          </a:xfrm>
          <a:prstGeom prst="rect">
            <a:avLst/>
          </a:prstGeom>
          <a:solidFill>
            <a:srgbClr val="1B2E45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468880"/>
            <a:ext cx="91440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5420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2542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65192" y="2971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top-rated products (Gloves, Sandals, Boots) in marketing campaigns to leverage social proof.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3931920"/>
            <a:ext cx="4206240" cy="1298448"/>
          </a:xfrm>
          <a:prstGeom prst="rect">
            <a:avLst/>
          </a:prstGeom>
          <a:solidFill>
            <a:srgbClr val="1B2E45"/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3931920"/>
            <a:ext cx="91440" cy="12984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4005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154680" y="40050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33472" y="4434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Young Adults and Male customers for high-revenue impact. Target Express-shipping users with premium offers.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2026-04-26T08:24:41Z</dcterms:created>
  <dcterms:modified xsi:type="dcterms:W3CDTF">2026-04-26T08:24:41Z</dcterms:modified>
</cp:coreProperties>
</file>